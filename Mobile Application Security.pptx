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aleway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regular.fntdata"/><Relationship Id="rId21" Type="http://schemas.openxmlformats.org/officeDocument/2006/relationships/slide" Target="slides/slide16.xml"/><Relationship Id="rId24" Type="http://schemas.openxmlformats.org/officeDocument/2006/relationships/font" Target="fonts/Raleway-italic.fntdata"/><Relationship Id="rId23" Type="http://schemas.openxmlformats.org/officeDocument/2006/relationships/font" Target="fonts/Ralew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dark-warlord14/ovaa/releases/tag/1.0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dark-warlord14/ovaa/releases/tag/1.0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frida.re/docs/javascript-api/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2089eb7a8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d2089eb7a8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2089eb7a8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4" name="Google Shape;64;g3d2089eb7a8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2089eb7a8_0_1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4" name="Google Shape;74;g3d2089eb7a8_0_1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2089eb7a8_0_2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Kendi oluşturduğumuz </a:t>
            </a:r>
            <a:r>
              <a:rPr lang="en">
                <a:solidFill>
                  <a:schemeClr val="dk1"/>
                </a:solidFill>
              </a:rPr>
              <a:t>apk unzip edilip dosya yapısı gösterilecek. Ve okunamayan byte kodlar olduğu gösterilecek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Decompile etmenin ne demek olduğu anlatılıp unzip etme ile benzerlikleri/farkları üzerine konuşulacak.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83" name="Google Shape;83;g3d2089eb7a8_0_2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d2089eb7a8_0_28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Bu dosyanın ne işe yarardığını, bu dosyadan ne gibi veriler çıkarabileceğimizi (paket name’in uniq olaması, versiyonu vb.)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Android componentlerinin neler olduğu gösterilecek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Uygulamanın kullandığı permissionları vs.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2" name="Google Shape;92;g3d2089eb7a8_0_2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2089eb7a8_0_1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1778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Activity’nin ne olduğundan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Neden activity’lere ihtiyacımız olduğundan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Bir activity’nin yanlış configure edilmesinin neye yol açtığını (exported true)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Intent-filter’ın ne işe yaradığını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intent filter ile exported true oluşundan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Ovaa’daki zafiyetli activity’i çözmece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1" name="Google Shape;101;g3d2089eb7a8_0_1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2089eb7a8_0_2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10" name="Google Shape;110;g3d2089eb7a8_0_2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2089eb7a8_0_1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1778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Broadcast Receiver’ın ne olduğundan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Neden broadcast receiver’lara ihtiyacımız olduğundan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Bir Broadcast Receiver’ın yanlış configure edilmesinin neye yol açtığını gösteren ovaadaki zafiyeti sömür.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9" name="Google Shape;119;g3d2089eb7a8_0_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d2089eb7a8_0_19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1778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Service’in  ne olduğundan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Neden service’lere ihtiyacımız olduğundan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Bir Broadcast Receiver’ın yanlış configure edilmesinin neye yol açtığını gösteren demo çözülecek.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8" name="Google Shape;128;g3d2089eb7a8_0_1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2089eb7a8_0_2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1778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Content Provider’ın ne olduğundan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Neden content providerlara ihtiyacımız olduğundan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Bir Content Provider’ın yanlış configure edilmesinin neye yol açtığını 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https://github.com/dark-warlord14/ovaa/releases/tag/1.0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37" name="Google Shape;137;g3d2089eb7a8_0_2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2089eb7a8_0_2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1778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Deep Link’in ne olduğundan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Neden deep link’e ihtiyacımız olduğundan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Bir deep link’in yanlış configure edilmesinin neye yol açtığını 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https://github.com/dark-warlord14/ovaa/releases/tag/1.0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46" name="Google Shape;146;g3d2089eb7a8_0_2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2089eb7a8_0_2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d2089eb7a8_0_2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2089eb7a8_0_2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1778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Elma toplama oyununda otomatize elmalar nasıl toplanır o gösterilecek</a:t>
            </a:r>
            <a:endParaRPr>
              <a:solidFill>
                <a:schemeClr val="dk1"/>
              </a:solidFill>
            </a:endParaRPr>
          </a:p>
          <a:p>
            <a:pPr indent="-19050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rPr lang="en">
                <a:solidFill>
                  <a:schemeClr val="dk1"/>
                </a:solidFill>
              </a:rPr>
              <a:t>Pointer location</a:t>
            </a:r>
            <a:endParaRPr>
              <a:solidFill>
                <a:schemeClr val="dk1"/>
              </a:solidFill>
            </a:endParaRPr>
          </a:p>
          <a:p>
            <a:pPr indent="-19050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input tap 280 749    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input tap 543 628    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input tap 749 874    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input tap 403 1057     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input tap 911 2130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64" name="Google Shape;164;g3d2089eb7a8_0_2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2089eb7a8_0_2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1778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>
                <a:solidFill>
                  <a:schemeClr val="dk1"/>
                </a:solidFill>
              </a:rPr>
              <a:t>Frida nedir?</a:t>
            </a:r>
            <a:endParaRPr>
              <a:solidFill>
                <a:schemeClr val="dk1"/>
              </a:solidFill>
            </a:endParaRPr>
          </a:p>
          <a:p>
            <a:pPr indent="-15875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" u="sng">
                <a:solidFill>
                  <a:srgbClr val="0097A7"/>
                </a:solid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https://frida.re/docs/javascript-api/</a:t>
            </a:r>
            <a:r>
              <a:rPr lang="en">
                <a:solidFill>
                  <a:schemeClr val="dk1"/>
                </a:solidFill>
              </a:rPr>
              <a:t> daki tutorial ile fridanın ne işe yaradığı gösterilecek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g3d2089eb7a8_0_2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d2089eb7a8_0_2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158750" lvl="0" marL="1778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2" name="Google Shape;182;g3d2089eb7a8_0_2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d2089eb7a8_0_2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d2089eb7a8_0_2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İçerik">
  <p:cSld name="Başlık ve İçeri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758347" y="1409030"/>
            <a:ext cx="3943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349250" lvl="0" marL="4572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rabicPeriod"/>
              <a:defRPr sz="1900"/>
            </a:lvl1pPr>
            <a:lvl2pPr indent="-349250" lvl="1" marL="914400" algn="l">
              <a:lnSpc>
                <a:spcPct val="9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AutoNum type="alphaLcPeriod"/>
              <a:defRPr sz="1900"/>
            </a:lvl2pPr>
            <a:lvl3pPr indent="-273050" lvl="2" marL="1371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AutoNum type="romanLcPeriod"/>
              <a:defRPr/>
            </a:lvl3pPr>
            <a:lvl4pPr indent="-273050" lvl="3" marL="1828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AutoNum type="arabicPeriod"/>
              <a:defRPr/>
            </a:lvl4pPr>
            <a:lvl5pPr indent="-273050" lvl="4" marL="2286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AutoNum type="alphaLcPeriod"/>
              <a:defRPr/>
            </a:lvl5pPr>
            <a:lvl6pPr indent="-273050" lvl="5" marL="2743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AutoNum type="romanLcPeriod"/>
              <a:defRPr/>
            </a:lvl6pPr>
            <a:lvl7pPr indent="-273050" lvl="6" marL="32004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AutoNum type="arabicPeriod"/>
              <a:defRPr/>
            </a:lvl7pPr>
            <a:lvl8pPr indent="-273050" lvl="7" marL="3657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AutoNum type="alphaLcPeriod"/>
              <a:defRPr/>
            </a:lvl8pPr>
            <a:lvl9pPr indent="-273050" lvl="8" marL="41148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700"/>
              <a:buAutoNum type="romanLcPeriod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  <a:defRPr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github.com/dark-warlord14/ovaa/releases/download/1.0/ovaa-debug.apk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0xArab/diva-apk-file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github.com/absosec/mobile-security-training-apps/blob/main/clicking_game.ap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absosec/mobile-security-training-apps/blob/main/Privacyfriendlydicer.apk" TargetMode="External"/><Relationship Id="rId4" Type="http://schemas.openxmlformats.org/officeDocument/2006/relationships/hyperlink" Target="https://github.com/absosec/mobile-security-training-apps/blob/main/fridaFunc.apk" TargetMode="External"/><Relationship Id="rId5" Type="http://schemas.openxmlformats.org/officeDocument/2006/relationships/hyperlink" Target="https://github.com/absosec/mobile-security-training-apps/blob/main/RootCheck.apk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absosec/mobile-security-training-apps/blob/main/spacepeng.ap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6720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240788" y="1840300"/>
            <a:ext cx="6869100" cy="68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3780">
                <a:solidFill>
                  <a:schemeClr val="lt1"/>
                </a:solidFill>
              </a:rPr>
              <a:t>Mobile Application Security</a:t>
            </a:r>
            <a:endParaRPr b="1" sz="3780">
              <a:solidFill>
                <a:schemeClr val="lt1"/>
              </a:solidFill>
            </a:endParaRPr>
          </a:p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371588" y="2806975"/>
            <a:ext cx="21417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Sefa Ozan</a:t>
            </a:r>
            <a:br>
              <a:rPr lang="en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lang="en" sz="1166">
                <a:solidFill>
                  <a:srgbClr val="EFEFEF"/>
                </a:solidFill>
                <a:latin typeface="Raleway"/>
                <a:ea typeface="Raleway"/>
                <a:cs typeface="Raleway"/>
                <a:sym typeface="Raleway"/>
              </a:rPr>
              <a:t>Application Security Engineer @ Trendyol</a:t>
            </a:r>
            <a:endParaRPr sz="1166">
              <a:solidFill>
                <a:srgbClr val="EFEFE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60" name="Google Shape;60;p14" title="TITUS_0_ns_TempNamespaceUri"/>
          <p:cNvSpPr txBox="1"/>
          <p:nvPr/>
        </p:nvSpPr>
        <p:spPr>
          <a:xfrm>
            <a:off x="0" y="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 title="TITUS_1_genel_v:KA3bc2995b1244a6a15b7q|d:Public"/>
          <p:cNvSpPr txBox="1"/>
          <p:nvPr/>
        </p:nvSpPr>
        <p:spPr>
          <a:xfrm>
            <a:off x="0" y="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5"/>
          <p:cNvSpPr txBox="1"/>
          <p:nvPr>
            <p:ph type="title"/>
          </p:nvPr>
        </p:nvSpPr>
        <p:spPr>
          <a:xfrm>
            <a:off x="628650" y="2706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AGENDA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1077197" y="1174547"/>
            <a:ext cx="3576300" cy="37950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 lnSpcReduction="20000"/>
          </a:bodyPr>
          <a:lstStyle/>
          <a:p>
            <a:pPr indent="-209550" lvl="0" marL="1778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900"/>
              <a:buAutoNum type="arabicPeriod"/>
            </a:pPr>
            <a:r>
              <a:rPr lang="en"/>
              <a:t>Mobile Development Tools</a:t>
            </a:r>
            <a:endParaRPr/>
          </a:p>
          <a:p>
            <a:pPr indent="-171450" lvl="1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/>
              <a:t>Android Studio</a:t>
            </a:r>
            <a:endParaRPr sz="1300"/>
          </a:p>
          <a:p>
            <a:pPr indent="-171450" lvl="1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/>
              <a:t>Emulator</a:t>
            </a:r>
            <a:endParaRPr sz="1300"/>
          </a:p>
          <a:p>
            <a:pPr indent="-171450" lvl="1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/>
              <a:t>Android Debug Bridge (adb)</a:t>
            </a:r>
            <a:endParaRPr/>
          </a:p>
          <a:p>
            <a:pPr indent="0" lvl="0" marL="1778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09550" lvl="0" marL="1778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900"/>
              <a:buAutoNum type="arabicPeriod"/>
            </a:pPr>
            <a:r>
              <a:rPr lang="en"/>
              <a:t>Static Analysis</a:t>
            </a:r>
            <a:endParaRPr/>
          </a:p>
          <a:p>
            <a:pPr indent="-171450" lvl="1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/>
              <a:t>Unzipping</a:t>
            </a:r>
            <a:endParaRPr sz="1300"/>
          </a:p>
          <a:p>
            <a:pPr indent="-171450" lvl="1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/>
              <a:t>Decompiling</a:t>
            </a:r>
            <a:endParaRPr sz="1300"/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209550" lvl="0" marL="1778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900"/>
              <a:buAutoNum type="arabicPeriod"/>
            </a:pPr>
            <a:r>
              <a:rPr lang="en"/>
              <a:t>Android App Components</a:t>
            </a:r>
            <a:endParaRPr/>
          </a:p>
          <a:p>
            <a:pPr indent="-171450" lvl="1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Activity</a:t>
            </a:r>
            <a:endParaRPr sz="1300"/>
          </a:p>
          <a:p>
            <a:pPr indent="-171450" lvl="1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Broadcast Receiver</a:t>
            </a:r>
            <a:endParaRPr sz="1300"/>
          </a:p>
          <a:p>
            <a:pPr indent="-171450" lvl="1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Services</a:t>
            </a:r>
            <a:endParaRPr sz="1300"/>
          </a:p>
          <a:p>
            <a:pPr indent="-171450" lvl="1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Content Provider</a:t>
            </a:r>
            <a:endParaRPr sz="1300"/>
          </a:p>
          <a:p>
            <a:pPr indent="-171450" lvl="1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300"/>
              <a:buAutoNum type="alphaLcPeriod"/>
            </a:pPr>
            <a:r>
              <a:rPr lang="en" sz="1300"/>
              <a:t>Deep/App Links</a:t>
            </a:r>
            <a:endParaRPr sz="1300"/>
          </a:p>
          <a:p>
            <a:pPr indent="0" lvl="0" marL="0" rtl="0" algn="l">
              <a:lnSpc>
                <a:spcPct val="75000"/>
              </a:lnSpc>
              <a:spcBef>
                <a:spcPts val="80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500"/>
          </a:p>
          <a:p>
            <a:pPr indent="0" lvl="0" marL="0" rtl="0" algn="l">
              <a:lnSpc>
                <a:spcPct val="75000"/>
              </a:lnSpc>
              <a:spcBef>
                <a:spcPts val="800"/>
              </a:spcBef>
              <a:spcAft>
                <a:spcPts val="0"/>
              </a:spcAft>
              <a:buSzPts val="200"/>
              <a:buNone/>
            </a:pPr>
            <a:r>
              <a:t/>
            </a:r>
            <a:endParaRPr sz="500"/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4794778" y="1121213"/>
            <a:ext cx="3576300" cy="3795000"/>
          </a:xfrm>
          <a:prstGeom prst="rect">
            <a:avLst/>
          </a:prstGeom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209550" lvl="0" marL="1778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SzPts val="1900"/>
              <a:buAutoNum type="arabicPeriod" startAt="4"/>
            </a:pPr>
            <a:r>
              <a:rPr lang="en"/>
              <a:t>Mobile Game Hacking</a:t>
            </a:r>
            <a:endParaRPr/>
          </a:p>
          <a:p>
            <a:pPr indent="-171450" lvl="1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/>
              <a:t>Hacking a clicker mobile app</a:t>
            </a:r>
            <a:endParaRPr sz="1300"/>
          </a:p>
          <a:p>
            <a:pPr indent="0" lvl="0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209550" lvl="0" marL="1778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AutoNum type="arabicPeriod" startAt="4"/>
            </a:pPr>
            <a:r>
              <a:rPr lang="en"/>
              <a:t>Runtime Manipulation</a:t>
            </a:r>
            <a:endParaRPr/>
          </a:p>
          <a:p>
            <a:pPr indent="-171450" lvl="1" marL="3429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/>
              <a:t>Learning Frida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6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Development Tools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20955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Char char="❖"/>
            </a:pPr>
            <a:r>
              <a:rPr b="1" lang="en" sz="19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Android Studio</a:t>
            </a:r>
            <a:endParaRPr b="1" sz="19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Emulator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Android Debug Bridge (adb)</a:t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7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Static Analysis of An APK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-20955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latin typeface="Calibri"/>
                <a:ea typeface="Calibri"/>
                <a:cs typeface="Calibri"/>
                <a:sym typeface="Calibri"/>
              </a:rPr>
              <a:t>Unzipping 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Decompilation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8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628650" y="284156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AndroidManifest.xml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 lnSpcReduction="10000"/>
          </a:bodyPr>
          <a:lstStyle/>
          <a:p>
            <a:pPr indent="-20955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latin typeface="Calibri"/>
                <a:ea typeface="Calibri"/>
                <a:cs typeface="Calibri"/>
                <a:sym typeface="Calibri"/>
              </a:rPr>
              <a:t>Package name,</a:t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latin typeface="Calibri"/>
                <a:ea typeface="Calibri"/>
                <a:cs typeface="Calibri"/>
                <a:sym typeface="Calibri"/>
              </a:rPr>
              <a:t>Version name,</a:t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Font typeface="Calibri"/>
              <a:buChar char="❖"/>
            </a:pPr>
            <a:r>
              <a:rPr b="1" lang="en" sz="1900">
                <a:latin typeface="Calibri"/>
                <a:ea typeface="Calibri"/>
                <a:cs typeface="Calibri"/>
                <a:sym typeface="Calibri"/>
              </a:rPr>
              <a:t>Permissions,</a:t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Components (activity, service, content provider, broadcast receiver),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77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❖"/>
            </a:pPr>
            <a:r>
              <a:rPr b="1" lang="en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link</a:t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https://github.com/dark-warlord14/ovaa/releases/download/1.0/ovaa-debug.apk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9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	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0" y="1268050"/>
            <a:ext cx="7762875" cy="348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20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0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Lifecycle</a:t>
            </a: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7350" y="1198775"/>
            <a:ext cx="4316749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1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21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1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Broadcast Receiver	</a:t>
            </a:r>
            <a:endParaRPr/>
          </a:p>
        </p:txBody>
      </p:sp>
      <p:pic>
        <p:nvPicPr>
          <p:cNvPr id="125" name="Google Shape;12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075" y="1342194"/>
            <a:ext cx="8165848" cy="35706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2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2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2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</a:t>
            </a:r>
            <a:endParaRPr/>
          </a:p>
        </p:txBody>
      </p:sp>
      <p:pic>
        <p:nvPicPr>
          <p:cNvPr id="134" name="Google Shape;13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6825" y="1268050"/>
            <a:ext cx="5180625" cy="35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3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Provider</a:t>
            </a:r>
            <a:endParaRPr/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725" y="1268062"/>
            <a:ext cx="8044552" cy="3430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4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4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Link</a:t>
            </a:r>
            <a:endParaRPr/>
          </a:p>
        </p:txBody>
      </p:sp>
      <p:pic>
        <p:nvPicPr>
          <p:cNvPr id="152" name="Google Shape;15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5400" y="1348600"/>
            <a:ext cx="613410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5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Damn Insecure And Vulnerable App (</a:t>
            </a:r>
            <a:r>
              <a:rPr lang="en"/>
              <a:t>Diva)	</a:t>
            </a:r>
            <a:endParaRPr/>
          </a:p>
        </p:txBody>
      </p:sp>
      <p:sp>
        <p:nvSpPr>
          <p:cNvPr id="161" name="Google Shape;161;p25"/>
          <p:cNvSpPr txBox="1"/>
          <p:nvPr/>
        </p:nvSpPr>
        <p:spPr>
          <a:xfrm>
            <a:off x="881625" y="1705100"/>
            <a:ext cx="7886700" cy="28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09550" lvl="0" marL="1778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alibri"/>
              <a:buChar char="❖"/>
            </a:pPr>
            <a:r>
              <a:rPr lang="en" sz="19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https://github.com/0xArab/diva-apk-file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6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6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Mobile Game Hacking</a:t>
            </a:r>
            <a:endParaRPr/>
          </a:p>
        </p:txBody>
      </p:sp>
      <p:sp>
        <p:nvSpPr>
          <p:cNvPr id="170" name="Google Shape;170;p26"/>
          <p:cNvSpPr txBox="1"/>
          <p:nvPr/>
        </p:nvSpPr>
        <p:spPr>
          <a:xfrm>
            <a:off x="549900" y="1809875"/>
            <a:ext cx="8044200" cy="28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0500" lvl="0" marL="1778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Char char="❖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https://github.com/absosec/mobile-security-training-apps/blob/main/clicking_game.apk</a:t>
            </a:r>
            <a:endParaRPr sz="1600">
              <a:solidFill>
                <a:schemeClr val="dk1"/>
              </a:solidFill>
            </a:endParaRPr>
          </a:p>
          <a:p>
            <a:pPr indent="0" lvl="0" marL="17780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7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Frida</a:t>
            </a:r>
            <a:endParaRPr/>
          </a:p>
        </p:txBody>
      </p:sp>
      <p:pic>
        <p:nvPicPr>
          <p:cNvPr id="179" name="Google Shape;17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8675" y="1219200"/>
            <a:ext cx="7486651" cy="35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8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Frida</a:t>
            </a:r>
            <a:endParaRPr/>
          </a:p>
        </p:txBody>
      </p:sp>
      <p:sp>
        <p:nvSpPr>
          <p:cNvPr id="188" name="Google Shape;188;p28"/>
          <p:cNvSpPr txBox="1"/>
          <p:nvPr/>
        </p:nvSpPr>
        <p:spPr>
          <a:xfrm>
            <a:off x="428625" y="1268050"/>
            <a:ext cx="85725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 fontScale="85000" lnSpcReduction="20000"/>
          </a:bodyPr>
          <a:lstStyle/>
          <a:p>
            <a:pPr indent="-191452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❖"/>
            </a:pPr>
            <a:r>
              <a:rPr lang="en" sz="1900">
                <a:solidFill>
                  <a:schemeClr val="dk1"/>
                </a:solidFill>
              </a:rPr>
              <a:t>Hook methods</a:t>
            </a:r>
            <a:endParaRPr sz="1900">
              <a:solidFill>
                <a:schemeClr val="dk1"/>
              </a:solidFill>
            </a:endParaRPr>
          </a:p>
          <a:p>
            <a:pPr indent="-17526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210"/>
              <a:buChar char="❖"/>
            </a:pPr>
            <a:r>
              <a:rPr lang="en" sz="1900">
                <a:solidFill>
                  <a:schemeClr val="dk1"/>
                </a:solidFill>
              </a:rPr>
              <a:t>Override method implementations </a:t>
            </a:r>
            <a:endParaRPr sz="1900">
              <a:solidFill>
                <a:schemeClr val="dk1"/>
              </a:solidFill>
            </a:endParaRPr>
          </a:p>
          <a:p>
            <a:pPr indent="-17526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210"/>
              <a:buChar char="❖"/>
            </a:pPr>
            <a:r>
              <a:rPr lang="en" sz="1900">
                <a:solidFill>
                  <a:schemeClr val="dk1"/>
                </a:solidFill>
              </a:rPr>
              <a:t>Read and modify arguments / return values</a:t>
            </a:r>
            <a:endParaRPr sz="1900">
              <a:solidFill>
                <a:schemeClr val="dk1"/>
              </a:solidFill>
            </a:endParaRPr>
          </a:p>
          <a:p>
            <a:pPr indent="-17526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210"/>
              <a:buChar char="❖"/>
            </a:pPr>
            <a:r>
              <a:rPr lang="en" sz="1900">
                <a:solidFill>
                  <a:schemeClr val="dk1"/>
                </a:solidFill>
              </a:rPr>
              <a:t>Call methods manually</a:t>
            </a:r>
            <a:endParaRPr sz="1900">
              <a:solidFill>
                <a:schemeClr val="dk1"/>
              </a:solidFill>
            </a:endParaRPr>
          </a:p>
          <a:p>
            <a:pPr indent="-17526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210"/>
              <a:buChar char="❖"/>
            </a:pPr>
            <a:r>
              <a:rPr lang="en" sz="1900">
                <a:solidFill>
                  <a:schemeClr val="dk1"/>
                </a:solidFill>
              </a:rPr>
              <a:t>Create new object instances</a:t>
            </a:r>
            <a:endParaRPr sz="1900">
              <a:solidFill>
                <a:schemeClr val="dk1"/>
              </a:solidFill>
            </a:endParaRPr>
          </a:p>
          <a:p>
            <a:pPr indent="-17526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210"/>
              <a:buChar char="❖"/>
            </a:pPr>
            <a:r>
              <a:rPr lang="en" sz="1900">
                <a:solidFill>
                  <a:schemeClr val="dk1"/>
                </a:solidFill>
              </a:rPr>
              <a:t>Inspect and change fields</a:t>
            </a:r>
            <a:endParaRPr sz="1900">
              <a:solidFill>
                <a:schemeClr val="dk1"/>
              </a:solidFill>
            </a:endParaRPr>
          </a:p>
          <a:p>
            <a:pPr indent="-17526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210"/>
              <a:buChar char="❖"/>
            </a:pPr>
            <a:r>
              <a:rPr lang="en" sz="1900">
                <a:solidFill>
                  <a:schemeClr val="dk1"/>
                </a:solidFill>
              </a:rPr>
              <a:t>Hook constructors and overloads</a:t>
            </a:r>
            <a:endParaRPr sz="1900">
              <a:solidFill>
                <a:schemeClr val="dk1"/>
              </a:solidFill>
            </a:endParaRPr>
          </a:p>
          <a:p>
            <a:pPr indent="-17526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84210"/>
              <a:buChar char="❖"/>
            </a:pPr>
            <a:r>
              <a:rPr lang="en" sz="1900">
                <a:solidFill>
                  <a:schemeClr val="dk1"/>
                </a:solidFill>
              </a:rPr>
              <a:t>Bypass runtime security controls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hlinkClick r:id="rId3"/>
              </a:rPr>
              <a:t>https://github.com/absosec/mobile-security-training-apps/blob/main/Privacyfriendlydicer.apk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hlinkClick r:id="rId4"/>
              </a:rPr>
              <a:t>https://github.com/absosec/mobile-security-training-apps/blob/main/fridaFunc.apk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900" u="sng">
                <a:solidFill>
                  <a:schemeClr val="hlink"/>
                </a:solidFill>
                <a:hlinkClick r:id="rId5"/>
              </a:rPr>
              <a:t>https://github.com/absosec/mobile-security-training-apps/blob/main/RootCheck.apk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9"/>
          <p:cNvSpPr/>
          <p:nvPr/>
        </p:nvSpPr>
        <p:spPr>
          <a:xfrm>
            <a:off x="1189" y="-2905"/>
            <a:ext cx="9141600" cy="1962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9"/>
          <p:cNvSpPr/>
          <p:nvPr/>
        </p:nvSpPr>
        <p:spPr>
          <a:xfrm rot="5400000">
            <a:off x="34021" y="415690"/>
            <a:ext cx="500100" cy="704100"/>
          </a:xfrm>
          <a:prstGeom prst="rect">
            <a:avLst/>
          </a:prstGeom>
          <a:solidFill>
            <a:srgbClr val="FF672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720"/>
              </a:buClr>
              <a:buSzPts val="700"/>
              <a:buFont typeface="Calibri"/>
              <a:buNone/>
            </a:pPr>
            <a:r>
              <a:t/>
            </a:r>
            <a:endParaRPr b="0" i="0" sz="700" u="none" cap="none" strike="noStrike">
              <a:solidFill>
                <a:srgbClr val="FF672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9"/>
          <p:cNvSpPr txBox="1"/>
          <p:nvPr>
            <p:ph idx="12" type="sldNum"/>
          </p:nvPr>
        </p:nvSpPr>
        <p:spPr>
          <a:xfrm>
            <a:off x="8512361" y="4813452"/>
            <a:ext cx="189300" cy="2079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</p:spPr>
        <p:txBody>
          <a:bodyPr anchorCtr="0" anchor="ctr" bIns="34275" lIns="34275" spcFirstLastPara="1" rIns="342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Space Peng</a:t>
            </a:r>
            <a:endParaRPr/>
          </a:p>
        </p:txBody>
      </p:sp>
      <p:sp>
        <p:nvSpPr>
          <p:cNvPr id="197" name="Google Shape;197;p29"/>
          <p:cNvSpPr txBox="1"/>
          <p:nvPr/>
        </p:nvSpPr>
        <p:spPr>
          <a:xfrm>
            <a:off x="438150" y="1481950"/>
            <a:ext cx="7886700" cy="34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 lnSpcReduction="10000"/>
          </a:bodyPr>
          <a:lstStyle/>
          <a:p>
            <a:pPr indent="-209550" lvl="0" marL="177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Char char="❖"/>
            </a:pPr>
            <a:r>
              <a:rPr lang="en" sz="1900">
                <a:solidFill>
                  <a:schemeClr val="dk1"/>
                </a:solidFill>
              </a:rPr>
              <a:t>HighScore</a:t>
            </a:r>
            <a:endParaRPr sz="1900">
              <a:solidFill>
                <a:schemeClr val="dk1"/>
              </a:solidFill>
            </a:endParaRPr>
          </a:p>
          <a:p>
            <a:pPr indent="-19050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❖"/>
            </a:pPr>
            <a:r>
              <a:rPr lang="en" sz="1900">
                <a:solidFill>
                  <a:schemeClr val="dk1"/>
                </a:solidFill>
              </a:rPr>
              <a:t>Lives</a:t>
            </a:r>
            <a:endParaRPr sz="1900">
              <a:solidFill>
                <a:schemeClr val="dk1"/>
              </a:solidFill>
            </a:endParaRPr>
          </a:p>
          <a:p>
            <a:pPr indent="-19050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❖"/>
            </a:pPr>
            <a:r>
              <a:rPr lang="en" sz="1900">
                <a:solidFill>
                  <a:schemeClr val="dk1"/>
                </a:solidFill>
              </a:rPr>
              <a:t>Rapid Fire</a:t>
            </a:r>
            <a:endParaRPr sz="1900">
              <a:solidFill>
                <a:schemeClr val="dk1"/>
              </a:solidFill>
            </a:endParaRPr>
          </a:p>
          <a:p>
            <a:pPr indent="-19050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❖"/>
            </a:pPr>
            <a:r>
              <a:rPr lang="en" sz="1900">
                <a:solidFill>
                  <a:schemeClr val="dk1"/>
                </a:solidFill>
              </a:rPr>
              <a:t>Invisible</a:t>
            </a:r>
            <a:endParaRPr sz="1900">
              <a:solidFill>
                <a:schemeClr val="dk1"/>
              </a:solidFill>
            </a:endParaRPr>
          </a:p>
          <a:p>
            <a:pPr indent="-19050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❖"/>
            </a:pPr>
            <a:r>
              <a:rPr lang="en" sz="1900">
                <a:solidFill>
                  <a:schemeClr val="dk1"/>
                </a:solidFill>
              </a:rPr>
              <a:t>Coin Rain</a:t>
            </a:r>
            <a:endParaRPr sz="1900">
              <a:solidFill>
                <a:schemeClr val="dk1"/>
              </a:solidFill>
            </a:endParaRPr>
          </a:p>
          <a:p>
            <a:pPr indent="-19050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❖"/>
            </a:pPr>
            <a:r>
              <a:rPr lang="en" sz="1900">
                <a:solidFill>
                  <a:schemeClr val="dk1"/>
                </a:solidFill>
              </a:rPr>
              <a:t>UnCollidable</a:t>
            </a:r>
            <a:endParaRPr sz="1900">
              <a:solidFill>
                <a:schemeClr val="dk1"/>
              </a:solidFill>
            </a:endParaRPr>
          </a:p>
          <a:p>
            <a:pPr indent="-190500" lvl="0" marL="1778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❖"/>
            </a:pPr>
            <a:r>
              <a:rPr lang="en" sz="1900">
                <a:solidFill>
                  <a:schemeClr val="dk1"/>
                </a:solidFill>
              </a:rPr>
              <a:t>New Player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https://github.com/absosec/mobile-security-training-apps/blob/main/spacepeng.apk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